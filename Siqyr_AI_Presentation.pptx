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gpt-6-luna (разработка)</c:v>
                </c:pt>
              </c:strCache>
            </c:strRef>
          </c:tx>
          <c:spPr>
            <a:solidFill>
              <a:srgbClr val="3448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0293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Валидные ответы (из 12)</c:v>
                  </c:pt>
                  <c:pt idx="1">
                    <c:v>Найдено поручений (из 9)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qwen3:4b (локально)</c:v>
                </c:pt>
              </c:strCache>
            </c:strRef>
          </c:tx>
          <c:spPr>
            <a:solidFill>
              <a:srgbClr val="D9922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0293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Валидные ответы (из 12)</c:v>
                  </c:pt>
                  <c:pt idx="1">
                    <c:v>Найдено поручений (из 9)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0.6666666666666666</c:v>
                </c:pt>
                <c:pt idx="1">
                  <c:v>0.4444444444444444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20293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93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2"/>
          <c:min val="0"/>
        </c:scaling>
        <c:delete val="0"/>
        <c:axPos val="l"/>
        <c:majorGridlines>
          <c:spPr>
            <a:ln w="9525" cap="flat">
              <a:solidFill>
                <a:srgbClr val="E4E7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0293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Siqyr AI превращает двуязычную встречу в проверяемые поручения. Секретарь слышит источник спорного поля, подтверждает решение и получает согласованный протокол. Обработка встречи остаётся на сервере заказчика. Справа — идея продукта в одной картинке: у каждого поручения есть секунды записи, откуда оно взято.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Самая дорогая ошибка в протоколе — перепутать исполнителя или срок. Пример: одна фраза на шала-казахском. Чтобы получить поручение, нужно понять смешанную речь, отличить говорящего от исполнителя и превратить «до пятницы» в дату. Цифр экономии времени не называем — их даст пилот.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способа получить запись: загрузить файл, записать с микрофона прямо в браузере или пригласить бота во встречу Google Meet. Дальше пять шагов. Золотой шаг — проверка человеком: модель только предлагает черновик. Статусы обработки приходят в интерфейс в реальном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главное отличие от обычного транскрибатора. Модель предлагает черновик, но каждое поле привязано к цитате и секундам записи. Если срок спорный, кнопка «Утвердить» заблокирована, пока секретарь не прослушает источник и не примет решение. После утверждения итоговые файлы, реестр и напоминания строятся детерминированно, без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обязательный минимум из ТЗ, всё работает. Справа — дополнительные пункты, отмечены честно: четыре сделаны, два частично, два нет. Голосовую идентификацию по тембру сознательно не делаем: связь голоса с человеком подтверждает секретарь.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Всё работает на одном сервере внутри контура. Аудио проходит FFmpeg, VAD, нашу STT и диаризацию на CPU. Затем один структурированный вызов локальной LLM: саммари и поручения, каждая цитата сверяется с исходной репликой. Агентов не больше, чем нужно: всё остальное — детерминированный код. После утверждения LLM не вызывается.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технический актив — собственная модель распознавания речи. Одна модель понимает русский, казахский и смешанную речь за один проход и работает на CPU. Честно: модель обучена участником команды до хакатона, на хакатоне сделаны интеграция, извлечение поручений, проверка и экспорт. Облачная модель использовалась только при разработке на полностью вымышленных стенограммах.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Требование ТЗ — никаких внешних облачных API для аудио и текста. Это заложено в код: адрес LLM проверяется, облачного запасного варианта нет. Внешние интеграции выключены по умолчанию, в контуре заказчика — Jira Data Center и внутренний SMTP. Честно называем ограничение: прогон с физически отключённой сетью ещё не проводили.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маленькие, и мы говорим это прямо. На 12 вымышленных стенограммах облачная модель разработки нашла все 9 поручений без лишних. Локальная qwen3:4b после правки промпта и схемы — 8 валидных ответов из 12 и 4 поручения из 9: качество зависит от модели и железа. На двух смоделированных аудиозаписях кейса найдены все пункты письменного протокола; слабое место — имя исполнителя, его подтверждает секретарь.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Заказчик ведёт задачи в Jira и входит через Keycloak — под это сделаны интеграции. После утверждения секретарь одной кнопкой создаёт задачи: срок, цитата, ссылка на секунды записи и PDF протокола. Сценарий 2 из ТЗ — напоминания руководителю и куратору о подходящем сроке и просрочке — работает по почте.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можно проверить по репозиторию: установка, запуск без сети и сквозной сценарий через API. 180 тестов проходят без сети на mock-режиме. Все решения и их причины записаны в журнале DECISIONS, фактический статус — в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выдаём прототип за готовый продукт. Слева — что ещё не сделано. Следующий шаг — пилот на 20 встречах одной организации: измерить реальное время подготовки и проверки протокола и качество по языкам. Масштабирование и СЭД — дорожная карта, не заявление о готовности.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секретарь не пишет протокол с нуля, а подтверждает проверяемый черновик. Руководитель получает согласованный список поручений и напоминания о сроках. Всё работает локально. Спасибо,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7830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Siqyr AI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8346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9D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Автопротоколирование совещаний с проверяемыми поручениями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на русском, казахском и шала-казахском → поручения «кто, что, к какому сроку» с цитатой из записи → утверждённый протокол DOCX/PDF. Обработка — в закрытом контуре.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HackAlem AI · кейс «Самрук-Казына» ·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223760" y="2851785"/>
            <a:ext cx="64546" cy="240030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8" name="Shape 5"/>
          <p:cNvSpPr/>
          <p:nvPr/>
        </p:nvSpPr>
        <p:spPr>
          <a:xfrm>
            <a:off x="7352852" y="2684704"/>
            <a:ext cx="64546" cy="574191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9" name="Shape 6"/>
          <p:cNvSpPr/>
          <p:nvPr/>
        </p:nvSpPr>
        <p:spPr>
          <a:xfrm>
            <a:off x="7481944" y="2725295"/>
            <a:ext cx="64546" cy="493011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0" name="Shape 7"/>
          <p:cNvSpPr/>
          <p:nvPr/>
        </p:nvSpPr>
        <p:spPr>
          <a:xfrm>
            <a:off x="7611035" y="2763696"/>
            <a:ext cx="64546" cy="416208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1" name="Shape 8"/>
          <p:cNvSpPr/>
          <p:nvPr/>
        </p:nvSpPr>
        <p:spPr>
          <a:xfrm>
            <a:off x="7740127" y="2666841"/>
            <a:ext cx="64546" cy="609917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2" name="Shape 9"/>
          <p:cNvSpPr/>
          <p:nvPr/>
        </p:nvSpPr>
        <p:spPr>
          <a:xfrm>
            <a:off x="7869219" y="2359380"/>
            <a:ext cx="64546" cy="1224839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3" name="Shape 10"/>
          <p:cNvSpPr/>
          <p:nvPr/>
        </p:nvSpPr>
        <p:spPr>
          <a:xfrm>
            <a:off x="7998311" y="2319840"/>
            <a:ext cx="64546" cy="1303921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402" y="2703905"/>
            <a:ext cx="64546" cy="535791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5" name="Shape 12"/>
          <p:cNvSpPr/>
          <p:nvPr/>
        </p:nvSpPr>
        <p:spPr>
          <a:xfrm>
            <a:off x="8256494" y="2234629"/>
            <a:ext cx="64546" cy="1474342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6" name="Shape 13"/>
          <p:cNvSpPr/>
          <p:nvPr/>
        </p:nvSpPr>
        <p:spPr>
          <a:xfrm>
            <a:off x="8385586" y="2223126"/>
            <a:ext cx="64546" cy="1497347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7" name="Shape 14"/>
          <p:cNvSpPr/>
          <p:nvPr/>
        </p:nvSpPr>
        <p:spPr>
          <a:xfrm>
            <a:off x="8514678" y="2553999"/>
            <a:ext cx="64546" cy="835603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8" name="Shape 15"/>
          <p:cNvSpPr/>
          <p:nvPr/>
        </p:nvSpPr>
        <p:spPr>
          <a:xfrm>
            <a:off x="8643769" y="2644599"/>
            <a:ext cx="64546" cy="654402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9" name="Shape 16"/>
          <p:cNvSpPr/>
          <p:nvPr/>
        </p:nvSpPr>
        <p:spPr>
          <a:xfrm>
            <a:off x="8772861" y="2411327"/>
            <a:ext cx="64546" cy="1120947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20" name="Shape 17"/>
          <p:cNvSpPr/>
          <p:nvPr/>
        </p:nvSpPr>
        <p:spPr>
          <a:xfrm>
            <a:off x="8901953" y="2263519"/>
            <a:ext cx="64546" cy="1416562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21" name="Shape 18"/>
          <p:cNvSpPr/>
          <p:nvPr/>
        </p:nvSpPr>
        <p:spPr>
          <a:xfrm>
            <a:off x="9031045" y="2612047"/>
            <a:ext cx="64546" cy="719506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22" name="Shape 19"/>
          <p:cNvSpPr/>
          <p:nvPr/>
        </p:nvSpPr>
        <p:spPr>
          <a:xfrm>
            <a:off x="9160136" y="1997973"/>
            <a:ext cx="64546" cy="1947653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23" name="Shape 20"/>
          <p:cNvSpPr/>
          <p:nvPr/>
        </p:nvSpPr>
        <p:spPr>
          <a:xfrm>
            <a:off x="9289228" y="1878646"/>
            <a:ext cx="64546" cy="2186307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24" name="Shape 21"/>
          <p:cNvSpPr/>
          <p:nvPr/>
        </p:nvSpPr>
        <p:spPr>
          <a:xfrm>
            <a:off x="9418320" y="2368584"/>
            <a:ext cx="64546" cy="1206432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25" name="Shape 22"/>
          <p:cNvSpPr/>
          <p:nvPr/>
        </p:nvSpPr>
        <p:spPr>
          <a:xfrm>
            <a:off x="9547412" y="2421023"/>
            <a:ext cx="64546" cy="1101553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26" name="Shape 23"/>
          <p:cNvSpPr/>
          <p:nvPr/>
        </p:nvSpPr>
        <p:spPr>
          <a:xfrm>
            <a:off x="9676504" y="2463506"/>
            <a:ext cx="64546" cy="1016588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27" name="Shape 24"/>
          <p:cNvSpPr/>
          <p:nvPr/>
        </p:nvSpPr>
        <p:spPr>
          <a:xfrm>
            <a:off x="9805595" y="2556858"/>
            <a:ext cx="64546" cy="829884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28" name="Shape 25"/>
          <p:cNvSpPr/>
          <p:nvPr/>
        </p:nvSpPr>
        <p:spPr>
          <a:xfrm>
            <a:off x="9934687" y="2630305"/>
            <a:ext cx="64546" cy="682990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29" name="Shape 26"/>
          <p:cNvSpPr/>
          <p:nvPr/>
        </p:nvSpPr>
        <p:spPr>
          <a:xfrm>
            <a:off x="10063779" y="2198419"/>
            <a:ext cx="64546" cy="1546762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0" name="Shape 27"/>
          <p:cNvSpPr/>
          <p:nvPr/>
        </p:nvSpPr>
        <p:spPr>
          <a:xfrm>
            <a:off x="10192871" y="2027128"/>
            <a:ext cx="64546" cy="1889344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1" name="Shape 28"/>
          <p:cNvSpPr/>
          <p:nvPr/>
        </p:nvSpPr>
        <p:spPr>
          <a:xfrm>
            <a:off x="10321962" y="2427121"/>
            <a:ext cx="64546" cy="1089358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2" name="Shape 29"/>
          <p:cNvSpPr/>
          <p:nvPr/>
        </p:nvSpPr>
        <p:spPr>
          <a:xfrm>
            <a:off x="10451054" y="2414430"/>
            <a:ext cx="64546" cy="1114740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3" name="Shape 30"/>
          <p:cNvSpPr/>
          <p:nvPr/>
        </p:nvSpPr>
        <p:spPr>
          <a:xfrm>
            <a:off x="10580146" y="2298379"/>
            <a:ext cx="64546" cy="1346843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4" name="Shape 31"/>
          <p:cNvSpPr/>
          <p:nvPr/>
        </p:nvSpPr>
        <p:spPr>
          <a:xfrm>
            <a:off x="10709238" y="2567482"/>
            <a:ext cx="64546" cy="808636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5" name="Shape 32"/>
          <p:cNvSpPr/>
          <p:nvPr/>
        </p:nvSpPr>
        <p:spPr>
          <a:xfrm>
            <a:off x="10838329" y="2748414"/>
            <a:ext cx="64546" cy="446772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6" name="Shape 33"/>
          <p:cNvSpPr/>
          <p:nvPr/>
        </p:nvSpPr>
        <p:spPr>
          <a:xfrm>
            <a:off x="10967421" y="2641036"/>
            <a:ext cx="64546" cy="661528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7" name="Shape 34"/>
          <p:cNvSpPr/>
          <p:nvPr/>
        </p:nvSpPr>
        <p:spPr>
          <a:xfrm>
            <a:off x="11096513" y="2524807"/>
            <a:ext cx="64546" cy="893987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8" name="Shape 35"/>
          <p:cNvSpPr/>
          <p:nvPr/>
        </p:nvSpPr>
        <p:spPr>
          <a:xfrm>
            <a:off x="11225605" y="2687920"/>
            <a:ext cx="64546" cy="567760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9" name="Shape 36"/>
          <p:cNvSpPr/>
          <p:nvPr/>
        </p:nvSpPr>
        <p:spPr>
          <a:xfrm>
            <a:off x="11354696" y="2666592"/>
            <a:ext cx="64546" cy="610416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40" name="Shape 37"/>
          <p:cNvSpPr/>
          <p:nvPr/>
        </p:nvSpPr>
        <p:spPr>
          <a:xfrm>
            <a:off x="11483788" y="2582877"/>
            <a:ext cx="64546" cy="777846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41" name="Shape 38"/>
          <p:cNvSpPr/>
          <p:nvPr/>
        </p:nvSpPr>
        <p:spPr>
          <a:xfrm>
            <a:off x="8719073" y="13258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968" y="1421892"/>
            <a:ext cx="192024" cy="192024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9088856" y="1325880"/>
            <a:ext cx="10566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00:31–00:38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7223760" y="4434840"/>
            <a:ext cx="4389120" cy="1417320"/>
          </a:xfrm>
          <a:prstGeom prst="roundRect">
            <a:avLst>
              <a:gd name="adj" fmla="val 7742"/>
            </a:avLst>
          </a:prstGeom>
          <a:solidFill>
            <a:srgbClr val="232C66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7498080" y="4572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«Айгерим, закупка бойынша есепті жұмаға дейін дайындап жіберіңіз, пожалуйста»</a:t>
            </a:r>
            <a:endParaRPr lang="en-US" sz="1400" dirty="0"/>
          </a:p>
        </p:txBody>
      </p:sp>
      <p:sp>
        <p:nvSpPr>
          <p:cNvPr id="46" name="Text 42"/>
          <p:cNvSpPr txBox="1"/>
          <p:nvPr/>
        </p:nvSpPr>
        <p:spPr>
          <a:xfrm>
            <a:off x="7498080" y="5349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</a:t>
            </a:r>
            <a:pPr indent="0" marL="0">
              <a:buNone/>
            </a:pPr>
            <a:r>
              <a:rPr lang="en-US" sz="13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Срок: </a:t>
            </a:r>
            <a:pPr indent="0" marL="0">
              <a:buNone/>
            </a:pPr>
            <a:r>
              <a:rPr lang="en-US" sz="1300" b="1" dirty="0">
                <a:solidFill>
                  <a:srgbClr val="F2B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25.09.2026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 пишут вручную — поручения теряются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встречи секретарь вручную переносит в протокол, кто, что и к какому сроку должен сделать.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66928" cy="56692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28448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67919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302666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Расшифровка и оформление протокола отнимают время секретаря после каждой встречи.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66928" cy="56692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398788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382219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Искажения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416966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Путаются исполнители и сроки, особенно когда в одной фразе смешаны русский и казахский.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983480"/>
            <a:ext cx="566928" cy="56692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513088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496519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контроля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325880" y="531266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Руководителю не на что опереться, чтобы проверять исполнение и видеть просрочки.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0" y="1645920"/>
            <a:ext cx="5239512" cy="4480560"/>
          </a:xfrm>
          <a:prstGeom prst="roundRect">
            <a:avLst>
              <a:gd name="adj" fmla="val 2449"/>
            </a:avLst>
          </a:prstGeom>
          <a:solidFill>
            <a:srgbClr val="EEF1FA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7208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реплика на совещании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20840" y="2240280"/>
            <a:ext cx="45994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B2150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6949440" y="2377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SPEAKER_01 · 00:31–00:38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949440" y="267004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«Айгерим, закупка бойынша есепті жұмаға дейін дайындап жіберіңіз, пожалуйста»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720840" y="397764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 w="9525">
            <a:solidFill>
              <a:srgbClr val="D9922E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720840" y="3977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Кто?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0" y="394106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говорит не она: исполнитель может молчать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720840" y="466344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 w="9525">
            <a:solidFill>
              <a:srgbClr val="D9922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720840" y="4663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Что?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7772400" y="462686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по закупкам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«есеп» и «закупка»: два языка в одной фразе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720840" y="534924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 w="9525">
            <a:solidFill>
              <a:srgbClr val="D9922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720840" y="53492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Срок?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7772400" y="531266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«Жұмаға дейін» = пятница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дату можно вычислить, только зная день встречи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Siqyr AI · HackAlem AI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записи до утверждённого протокола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1296" cy="512064"/>
          </a:xfrm>
          <a:prstGeom prst="roundRect">
            <a:avLst>
              <a:gd name="adj" fmla="val 50000"/>
            </a:avLst>
          </a:prstGeom>
          <a:solidFill>
            <a:srgbClr val="EEF1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6479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64592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файла до 100 МБ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38828" y="1645920"/>
            <a:ext cx="3511296" cy="512064"/>
          </a:xfrm>
          <a:prstGeom prst="roundRect">
            <a:avLst>
              <a:gd name="adj" fmla="val 50000"/>
            </a:avLst>
          </a:prstGeom>
          <a:solidFill>
            <a:srgbClr val="EEF1F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428" y="176479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960620" y="164592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Микрофон в браузере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129016" y="1645920"/>
            <a:ext cx="3511296" cy="512064"/>
          </a:xfrm>
          <a:prstGeom prst="roundRect">
            <a:avLst>
              <a:gd name="adj" fmla="val 50000"/>
            </a:avLst>
          </a:prstGeom>
          <a:solidFill>
            <a:srgbClr val="EEF1F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7647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50808" y="164592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Бот-участник Google Meet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1165860" y="2514600"/>
            <a:ext cx="868680" cy="86868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717" y="2740457"/>
            <a:ext cx="416966" cy="41696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796796" y="245973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448A5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96796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2171700" y="2948940"/>
            <a:ext cx="1104138" cy="0"/>
          </a:xfrm>
          <a:prstGeom prst="line">
            <a:avLst/>
          </a:prstGeom>
          <a:noFill/>
          <a:ln w="22225">
            <a:solidFill>
              <a:srgbClr val="D9DCE4"/>
            </a:solidFill>
            <a:prstDash val="solid"/>
            <a:tailEnd type="triangle"/>
          </a:ln>
        </p:spPr>
      </p:sp>
      <p:sp>
        <p:nvSpPr>
          <p:cNvPr id="18" name="Text 12"/>
          <p:cNvSpPr txBox="1"/>
          <p:nvPr/>
        </p:nvSpPr>
        <p:spPr>
          <a:xfrm>
            <a:off x="54864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Расшифровка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594360" y="3977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STT для ru / kk / mixed и диаризация: реплики с говорящими и таймкодами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412998" y="2514600"/>
            <a:ext cx="868680" cy="86868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855" y="2740457"/>
            <a:ext cx="416966" cy="41696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043934" y="245973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448A5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043934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418838" y="2948940"/>
            <a:ext cx="1104138" cy="0"/>
          </a:xfrm>
          <a:prstGeom prst="line">
            <a:avLst/>
          </a:prstGeom>
          <a:noFill/>
          <a:ln w="22225">
            <a:solidFill>
              <a:srgbClr val="D9DCE4"/>
            </a:solidFill>
            <a:prstDash val="solid"/>
            <a:tailEnd type="triangle"/>
          </a:ln>
        </p:spPr>
      </p:sp>
      <p:sp>
        <p:nvSpPr>
          <p:cNvPr id="25" name="Text 18"/>
          <p:cNvSpPr txBox="1"/>
          <p:nvPr/>
        </p:nvSpPr>
        <p:spPr>
          <a:xfrm>
            <a:off x="2795778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Поручения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2841498" y="3977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Кто, что, к какому сроку и саммари. У каждого поля — цитата из реплики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660136" y="2514600"/>
            <a:ext cx="868680" cy="868680"/>
          </a:xfrm>
          <a:prstGeom prst="ellipse">
            <a:avLst/>
          </a:prstGeom>
          <a:solidFill>
            <a:srgbClr val="D9922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993" y="2740457"/>
            <a:ext cx="416966" cy="416966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291072" y="245973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922E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291072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665976" y="2948940"/>
            <a:ext cx="1104138" cy="0"/>
          </a:xfrm>
          <a:prstGeom prst="line">
            <a:avLst/>
          </a:prstGeom>
          <a:noFill/>
          <a:ln w="22225">
            <a:solidFill>
              <a:srgbClr val="D9DCE4"/>
            </a:solidFill>
            <a:prstDash val="solid"/>
            <a:tailEnd type="triangle"/>
          </a:ln>
        </p:spPr>
      </p:sp>
      <p:sp>
        <p:nvSpPr>
          <p:cNvPr id="32" name="Text 24"/>
          <p:cNvSpPr txBox="1"/>
          <p:nvPr/>
        </p:nvSpPr>
        <p:spPr>
          <a:xfrm>
            <a:off x="5042916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5088636" y="3977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Секретарь слушает источник спорного поля, правит, подтверждает говорящих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7907274" y="2514600"/>
            <a:ext cx="868680" cy="86868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3131" y="2740457"/>
            <a:ext cx="416966" cy="416966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8538210" y="245973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448A5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8538210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8913114" y="2948940"/>
            <a:ext cx="1104138" cy="0"/>
          </a:xfrm>
          <a:prstGeom prst="line">
            <a:avLst/>
          </a:prstGeom>
          <a:noFill/>
          <a:ln w="22225">
            <a:solidFill>
              <a:srgbClr val="D9DCE4"/>
            </a:solidFill>
            <a:prstDash val="solid"/>
            <a:tailEnd type="triangle"/>
          </a:ln>
        </p:spPr>
      </p:sp>
      <p:sp>
        <p:nvSpPr>
          <p:cNvPr id="39" name="Text 30"/>
          <p:cNvSpPr txBox="1"/>
          <p:nvPr/>
        </p:nvSpPr>
        <p:spPr>
          <a:xfrm>
            <a:off x="7290054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Утверждение</a:t>
            </a:r>
            <a:endParaRPr lang="en-US" sz="1700" dirty="0"/>
          </a:p>
        </p:txBody>
      </p:sp>
      <p:sp>
        <p:nvSpPr>
          <p:cNvPr id="40" name="Text 31"/>
          <p:cNvSpPr txBox="1"/>
          <p:nvPr/>
        </p:nvSpPr>
        <p:spPr>
          <a:xfrm>
            <a:off x="7335774" y="3977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Неизменяемый снимок протокола. После него LLM не вызывается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10154412" y="2514600"/>
            <a:ext cx="868680" cy="86868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0269" y="2740457"/>
            <a:ext cx="416966" cy="416966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785348" y="2459736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448A5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10785348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35"/>
          <p:cNvSpPr txBox="1"/>
          <p:nvPr/>
        </p:nvSpPr>
        <p:spPr>
          <a:xfrm>
            <a:off x="9537192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700" dirty="0"/>
          </a:p>
        </p:txBody>
      </p:sp>
      <p:sp>
        <p:nvSpPr>
          <p:cNvPr id="46" name="Text 36"/>
          <p:cNvSpPr txBox="1"/>
          <p:nvPr/>
        </p:nvSpPr>
        <p:spPr>
          <a:xfrm>
            <a:off x="9582912" y="3977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и PDF, реестр поручений, напоминания о сроках, задачи в Jira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EEF1FA"/>
          </a:solidFill>
          <a:ln/>
        </p:spPr>
      </p:sp>
      <p:sp>
        <p:nvSpPr>
          <p:cNvPr id="48" name="Text 38"/>
          <p:cNvSpPr txBox="1"/>
          <p:nvPr/>
        </p:nvSpPr>
        <p:spPr>
          <a:xfrm>
            <a:off x="822960" y="5440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9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обработки видны в интерфейсе в реальном времени (SSE)</a:t>
            </a:r>
            <a:endParaRPr lang="en-US" sz="1200" dirty="0"/>
          </a:p>
        </p:txBody>
      </p:sp>
      <p:sp>
        <p:nvSpPr>
          <p:cNvPr id="49" name="Text 39"/>
          <p:cNvSpPr txBox="1"/>
          <p:nvPr/>
        </p:nvSpPr>
        <p:spPr>
          <a:xfrm>
            <a:off x="822960" y="5742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recording → queued → transcribing → running → awaiting_approval → executing → done</a:t>
            </a:r>
            <a:endParaRPr lang="en-US" sz="1300" dirty="0"/>
          </a:p>
        </p:txBody>
      </p:sp>
      <p:sp>
        <p:nvSpPr>
          <p:cNvPr id="50" name="Text 40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Siqyr AI · HackAlem AI</a:t>
            </a:r>
            <a:endParaRPr lang="en-US" sz="1000" dirty="0"/>
          </a:p>
        </p:txBody>
      </p:sp>
      <p:sp>
        <p:nvSpPr>
          <p:cNvPr id="51" name="Text 41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ПРИНЦИП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предлагает — секретарь утверждает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9525">
            <a:solidFill>
              <a:srgbClr val="D9DCE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15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Поручение 3 из 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94760" y="1901952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 w="9525">
            <a:solidFill>
              <a:srgbClr val="D992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0208" y="1984248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224528" y="1901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проверка срока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77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и отправить отчёт по закупкам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27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 в реплике SPEAKER_01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3227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4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25.09.2026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сказано: «жұмаға дейін»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4023360"/>
            <a:ext cx="5303520" cy="1005840"/>
          </a:xfrm>
          <a:prstGeom prst="roundRect">
            <a:avLst>
              <a:gd name="adj" fmla="val 10909"/>
            </a:avLst>
          </a:prstGeom>
          <a:solidFill>
            <a:srgbClr val="EEF1F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18795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17320" y="413308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«Айгерим, закупка бойынша есепті жұмаға дейін дайындап жіберіңіз, пожалуйста»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102352" y="434340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3448A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395" y="443484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457139" y="4343400"/>
            <a:ext cx="5687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00:31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22960" y="525780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CE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367528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61872" y="52578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Прослушать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2651760" y="5257800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CE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36752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090672" y="5257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Исправить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4343400" y="525780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5367528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782312" y="5257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Утвердить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60533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карточки поручения на вымышленном примере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766560" y="1691640"/>
            <a:ext cx="530352" cy="530352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452" y="1829532"/>
            <a:ext cx="254569" cy="254569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498080" y="1673352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поле проверяемо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7498080" y="2002536"/>
            <a:ext cx="4142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Цитата должна дословно найтись в исходной реплике, иначе ответ модели отклоняется.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6766560" y="2779776"/>
            <a:ext cx="530352" cy="530352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4452" y="2917668"/>
            <a:ext cx="254569" cy="254569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7498080" y="2761488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Неизвестное остаётся неизвестным</a:t>
            </a:r>
            <a:endParaRPr lang="en-US" sz="1600" dirty="0"/>
          </a:p>
        </p:txBody>
      </p:sp>
      <p:sp>
        <p:nvSpPr>
          <p:cNvPr id="39" name="Text 29"/>
          <p:cNvSpPr txBox="1"/>
          <p:nvPr/>
        </p:nvSpPr>
        <p:spPr>
          <a:xfrm>
            <a:off x="7498080" y="3090672"/>
            <a:ext cx="4142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 и срок могут быть пустыми. При конфликте сроков сохраняются оба кандидата.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6766560" y="3867912"/>
            <a:ext cx="530352" cy="530352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4452" y="4005804"/>
            <a:ext cx="254569" cy="254569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7498080" y="3849624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Спорное блокирует утверждение</a:t>
            </a:r>
            <a:endParaRPr lang="en-US" sz="1600" dirty="0"/>
          </a:p>
        </p:txBody>
      </p:sp>
      <p:sp>
        <p:nvSpPr>
          <p:cNvPr id="43" name="Text 32"/>
          <p:cNvSpPr txBox="1"/>
          <p:nvPr/>
        </p:nvSpPr>
        <p:spPr>
          <a:xfrm>
            <a:off x="7498080" y="4178808"/>
            <a:ext cx="4142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 срока, нет источника, неподтверждённый говорящий — нужно явное решение секретаря.</a:t>
            </a:r>
            <a:endParaRPr lang="en-US" sz="1300" dirty="0"/>
          </a:p>
        </p:txBody>
      </p:sp>
      <p:sp>
        <p:nvSpPr>
          <p:cNvPr id="44" name="Shape 33"/>
          <p:cNvSpPr/>
          <p:nvPr/>
        </p:nvSpPr>
        <p:spPr>
          <a:xfrm>
            <a:off x="6766560" y="4956048"/>
            <a:ext cx="530352" cy="530352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4452" y="5093940"/>
            <a:ext cx="254569" cy="254569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7498080" y="4937760"/>
            <a:ext cx="4142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всегда виден</a:t>
            </a:r>
            <a:endParaRPr lang="en-US" sz="1600" dirty="0"/>
          </a:p>
        </p:txBody>
      </p:sp>
      <p:sp>
        <p:nvSpPr>
          <p:cNvPr id="47" name="Text 35"/>
          <p:cNvSpPr txBox="1"/>
          <p:nvPr/>
        </p:nvSpPr>
        <p:spPr>
          <a:xfrm>
            <a:off x="7498080" y="5266944"/>
            <a:ext cx="4142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результат помечен real, mock или replay: тестовые данные не выдаются за реальные.</a:t>
            </a:r>
            <a:endParaRPr lang="en-US" sz="1300" dirty="0"/>
          </a:p>
        </p:txBody>
      </p:sp>
      <p:sp>
        <p:nvSpPr>
          <p:cNvPr id="48" name="Text 36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Siqyr AI · HackAlem AI</a:t>
            </a:r>
            <a:endParaRPr lang="en-US" sz="1000" dirty="0"/>
          </a:p>
        </p:txBody>
      </p:sp>
      <p:sp>
        <p:nvSpPr>
          <p:cNvPr id="49" name="Text 37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ТЗ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Обязательный минимум закрыт целиком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9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Обязательный минимум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39696"/>
            <a:ext cx="329184" cy="32918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228" y="2225284"/>
            <a:ext cx="158008" cy="1580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речи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3591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модель, локально на CPU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715768"/>
            <a:ext cx="329184" cy="32918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28" y="2801356"/>
            <a:ext cx="158008" cy="1580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1560" y="2679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 язык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29352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модель на все три варианта речи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329184" cy="32918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28" y="3377428"/>
            <a:ext cx="158008" cy="1580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51560" y="3255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Казахский язык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051560" y="35112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переключения режима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3867912"/>
            <a:ext cx="329184" cy="32918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28" y="3953500"/>
            <a:ext cx="158008" cy="1580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8313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Шала-казахский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051560" y="40873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языка внутри фразы — за один проход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443984"/>
            <a:ext cx="329184" cy="32918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28" y="4529572"/>
            <a:ext cx="158008" cy="1580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51560" y="4407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Поручения: ответственный и срок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1051560" y="4663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структурированный вызов LLM + проверка цитат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5020056"/>
            <a:ext cx="329184" cy="32918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228" y="5105644"/>
            <a:ext cx="158008" cy="15800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51560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Диаризация с привязкой к человеку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1051560" y="52395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pyannote; имя голоса подтверждает секретарь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548640" y="5596128"/>
            <a:ext cx="329184" cy="32918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28" y="5681716"/>
            <a:ext cx="158008" cy="15800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51560" y="5559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PDF / DOCX</a:t>
            </a:r>
            <a:endParaRPr lang="en-US" sz="1400" dirty="0"/>
          </a:p>
        </p:txBody>
      </p:sp>
      <p:sp>
        <p:nvSpPr>
          <p:cNvPr id="32" name="Text 23"/>
          <p:cNvSpPr txBox="1"/>
          <p:nvPr/>
        </p:nvSpPr>
        <p:spPr>
          <a:xfrm>
            <a:off x="1051560" y="58155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утверждённого снимка, с казахскими буквами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9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Дополнительно</a:t>
            </a:r>
            <a:endParaRPr lang="en-US" sz="1700" dirty="0"/>
          </a:p>
        </p:txBody>
      </p:sp>
      <p:sp>
        <p:nvSpPr>
          <p:cNvPr id="34" name="Shape 25"/>
          <p:cNvSpPr/>
          <p:nvPr/>
        </p:nvSpPr>
        <p:spPr>
          <a:xfrm>
            <a:off x="6400800" y="21031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400800" y="21031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7635240" y="210312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 о сроке и просрочке, копия куратору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6400800" y="260604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/>
        </p:spPr>
      </p:sp>
      <p:sp>
        <p:nvSpPr>
          <p:cNvPr id="38" name="Text 29"/>
          <p:cNvSpPr txBox="1"/>
          <p:nvPr/>
        </p:nvSpPr>
        <p:spPr>
          <a:xfrm>
            <a:off x="6400800" y="2606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150" dirty="0"/>
          </a:p>
        </p:txBody>
      </p:sp>
      <p:sp>
        <p:nvSpPr>
          <p:cNvPr id="39" name="Text 30"/>
          <p:cNvSpPr txBox="1"/>
          <p:nvPr/>
        </p:nvSpPr>
        <p:spPr>
          <a:xfrm>
            <a:off x="7635240" y="260604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 в закрытом контуре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400800" y="31089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6400800" y="31089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150" dirty="0"/>
          </a:p>
        </p:txBody>
      </p:sp>
      <p:sp>
        <p:nvSpPr>
          <p:cNvPr id="42" name="Text 33"/>
          <p:cNvSpPr txBox="1"/>
          <p:nvPr/>
        </p:nvSpPr>
        <p:spPr>
          <a:xfrm>
            <a:off x="7635240" y="310896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Google Meet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6400800" y="3611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/>
        </p:spPr>
      </p:sp>
      <p:sp>
        <p:nvSpPr>
          <p:cNvPr id="44" name="Text 35"/>
          <p:cNvSpPr txBox="1"/>
          <p:nvPr/>
        </p:nvSpPr>
        <p:spPr>
          <a:xfrm>
            <a:off x="6400800" y="36118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</a:t>
            </a:r>
            <a:endParaRPr lang="en-US" sz="1150" dirty="0"/>
          </a:p>
        </p:txBody>
      </p:sp>
      <p:sp>
        <p:nvSpPr>
          <p:cNvPr id="45" name="Text 36"/>
          <p:cNvSpPr txBox="1"/>
          <p:nvPr/>
        </p:nvSpPr>
        <p:spPr>
          <a:xfrm>
            <a:off x="7635240" y="361188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поручений: в работе / просрочено / выполнено</a:t>
            </a:r>
            <a:endParaRPr lang="en-US" sz="1300" dirty="0"/>
          </a:p>
        </p:txBody>
      </p:sp>
      <p:sp>
        <p:nvSpPr>
          <p:cNvPr id="46" name="Shape 37"/>
          <p:cNvSpPr/>
          <p:nvPr/>
        </p:nvSpPr>
        <p:spPr>
          <a:xfrm>
            <a:off x="6400800" y="41148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6400800" y="4114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4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150" dirty="0"/>
          </a:p>
        </p:txBody>
      </p:sp>
      <p:sp>
        <p:nvSpPr>
          <p:cNvPr id="48" name="Text 39"/>
          <p:cNvSpPr txBox="1"/>
          <p:nvPr/>
        </p:nvSpPr>
        <p:spPr>
          <a:xfrm>
            <a:off x="7635240" y="411480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Выдержки ответственным формируются, не рассылаются</a:t>
            </a:r>
            <a:endParaRPr lang="en-US" sz="1300" dirty="0"/>
          </a:p>
        </p:txBody>
      </p:sp>
      <p:sp>
        <p:nvSpPr>
          <p:cNvPr id="49" name="Shape 40"/>
          <p:cNvSpPr/>
          <p:nvPr/>
        </p:nvSpPr>
        <p:spPr>
          <a:xfrm>
            <a:off x="6400800" y="46177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</p:sp>
      <p:sp>
        <p:nvSpPr>
          <p:cNvPr id="50" name="Text 41"/>
          <p:cNvSpPr txBox="1"/>
          <p:nvPr/>
        </p:nvSpPr>
        <p:spPr>
          <a:xfrm>
            <a:off x="6400800" y="46177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4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1150" dirty="0"/>
          </a:p>
        </p:txBody>
      </p:sp>
      <p:sp>
        <p:nvSpPr>
          <p:cNvPr id="51" name="Text 42"/>
          <p:cNvSpPr txBox="1"/>
          <p:nvPr/>
        </p:nvSpPr>
        <p:spPr>
          <a:xfrm>
            <a:off x="7635240" y="461772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Классификация: поля priority / category без автозаполнения</a:t>
            </a:r>
            <a:endParaRPr lang="en-US" sz="1300" dirty="0"/>
          </a:p>
        </p:txBody>
      </p:sp>
      <p:sp>
        <p:nvSpPr>
          <p:cNvPr id="52" name="Shape 43"/>
          <p:cNvSpPr/>
          <p:nvPr/>
        </p:nvSpPr>
        <p:spPr>
          <a:xfrm>
            <a:off x="6400800" y="512064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6400800" y="5120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50" dirty="0"/>
          </a:p>
        </p:txBody>
      </p:sp>
      <p:sp>
        <p:nvSpPr>
          <p:cNvPr id="54" name="Text 45"/>
          <p:cNvSpPr txBox="1"/>
          <p:nvPr/>
        </p:nvSpPr>
        <p:spPr>
          <a:xfrm>
            <a:off x="7635240" y="512064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Голосовая идентификация — имя подтверждает человек</a:t>
            </a:r>
            <a:endParaRPr lang="en-US" sz="1300" dirty="0"/>
          </a:p>
        </p:txBody>
      </p:sp>
      <p:sp>
        <p:nvSpPr>
          <p:cNvPr id="55" name="Shape 46"/>
          <p:cNvSpPr/>
          <p:nvPr/>
        </p:nvSpPr>
        <p:spPr>
          <a:xfrm>
            <a:off x="6400800" y="56235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6400800" y="5623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50" dirty="0"/>
          </a:p>
        </p:txBody>
      </p:sp>
      <p:sp>
        <p:nvSpPr>
          <p:cNvPr id="57" name="Text 48"/>
          <p:cNvSpPr txBox="1"/>
          <p:nvPr/>
        </p:nvSpPr>
        <p:spPr>
          <a:xfrm>
            <a:off x="7635240" y="5623560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СЭД — вместо неё задачи в Jira</a:t>
            </a:r>
            <a:endParaRPr lang="en-US" sz="1300" dirty="0"/>
          </a:p>
        </p:txBody>
      </p:sp>
      <p:sp>
        <p:nvSpPr>
          <p:cNvPr id="58" name="Text 49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Siqyr AI · HackAlem AI</a:t>
            </a:r>
            <a:endParaRPr lang="en-US" sz="1000" dirty="0"/>
          </a:p>
        </p:txBody>
      </p:sp>
      <p:sp>
        <p:nvSpPr>
          <p:cNvPr id="59" name="Text 50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сервер, локальные модели, финал без LLM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691640"/>
            <a:ext cx="11365992" cy="406908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5875">
            <a:solidFill>
              <a:srgbClr val="3448A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2788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ЗАКРЫТЫЙ КОНТУР ЗАКАЗЧИКА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04088" y="201168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EEF1FA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2194560"/>
            <a:ext cx="457200" cy="45720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1343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35608" y="21945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2834640"/>
            <a:ext cx="16642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до 100 МБ, формат по сигнатуре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Микрофон: WebM-чанки во время записи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Google Meet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4965192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41248" y="496519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и бот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679192" y="2423160"/>
            <a:ext cx="201168" cy="0"/>
          </a:xfrm>
          <a:prstGeom prst="line">
            <a:avLst/>
          </a:prstGeom>
          <a:noFill/>
          <a:ln w="22225">
            <a:solidFill>
              <a:srgbClr val="3448A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916936" y="201168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EEF1FA"/>
          </a:solidFill>
          <a:ln/>
        </p:spPr>
      </p:sp>
      <p:sp>
        <p:nvSpPr>
          <p:cNvPr id="16" name="Shape 13"/>
          <p:cNvSpPr/>
          <p:nvPr/>
        </p:nvSpPr>
        <p:spPr>
          <a:xfrm>
            <a:off x="3099816" y="2194560"/>
            <a:ext cx="457200" cy="45720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31343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648456" y="21945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3054096" y="2834640"/>
            <a:ext cx="16642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Очередь, один worker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SSE: этапы в реальном времени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и файлы в DATA_DIR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Keycloak, роли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054096" y="4965192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054096" y="496519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892040" y="2423160"/>
            <a:ext cx="201168" cy="0"/>
          </a:xfrm>
          <a:prstGeom prst="line">
            <a:avLst/>
          </a:prstGeom>
          <a:noFill/>
          <a:ln w="22225">
            <a:solidFill>
              <a:srgbClr val="3448A5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129784" y="201168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EEF1FA"/>
          </a:solidFill>
          <a:ln/>
        </p:spPr>
      </p:sp>
      <p:sp>
        <p:nvSpPr>
          <p:cNvPr id="24" name="Shape 20"/>
          <p:cNvSpPr/>
          <p:nvPr/>
        </p:nvSpPr>
        <p:spPr>
          <a:xfrm>
            <a:off x="5312664" y="2194560"/>
            <a:ext cx="457200" cy="45720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2313432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861304" y="21945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Аудио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5266944" y="2834640"/>
            <a:ext cx="16642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→ VAD (ONNX)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wav2vec2-CTC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Диаризация pyannote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Raw-транскрипт не меняется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266944" y="4965192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5266944" y="496519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локально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104888" y="2423160"/>
            <a:ext cx="201168" cy="0"/>
          </a:xfrm>
          <a:prstGeom prst="line">
            <a:avLst/>
          </a:prstGeom>
          <a:noFill/>
          <a:ln w="22225">
            <a:solidFill>
              <a:srgbClr val="3448A5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7342632" y="201168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EEF1FA"/>
          </a:solidFill>
          <a:ln/>
        </p:spPr>
      </p:sp>
      <p:sp>
        <p:nvSpPr>
          <p:cNvPr id="32" name="Shape 27"/>
          <p:cNvSpPr/>
          <p:nvPr/>
        </p:nvSpPr>
        <p:spPr>
          <a:xfrm>
            <a:off x="7525512" y="2194560"/>
            <a:ext cx="457200" cy="457200"/>
          </a:xfrm>
          <a:prstGeom prst="ellipse">
            <a:avLst/>
          </a:prstGeom>
          <a:solidFill>
            <a:srgbClr val="D9922E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2313432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8074152" y="21945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propose()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7479792" y="2834640"/>
            <a:ext cx="16642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qwen3:4b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вызов + одна попытка исправить JSON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цитат и сроков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7479792" y="4965192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922E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479792" y="496519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вызов LLM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9317736" y="2423160"/>
            <a:ext cx="201168" cy="0"/>
          </a:xfrm>
          <a:prstGeom prst="line">
            <a:avLst/>
          </a:prstGeom>
          <a:noFill/>
          <a:ln w="22225">
            <a:solidFill>
              <a:srgbClr val="3448A5"/>
            </a:solidFill>
            <a:prstDash val="solid"/>
            <a:tailEnd type="triangle"/>
          </a:ln>
        </p:spPr>
      </p:sp>
      <p:sp>
        <p:nvSpPr>
          <p:cNvPr id="39" name="Shape 33"/>
          <p:cNvSpPr/>
          <p:nvPr/>
        </p:nvSpPr>
        <p:spPr>
          <a:xfrm>
            <a:off x="9555480" y="201168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EEF1FA"/>
          </a:solidFill>
          <a:ln/>
        </p:spPr>
      </p:sp>
      <p:sp>
        <p:nvSpPr>
          <p:cNvPr id="40" name="Shape 34"/>
          <p:cNvSpPr/>
          <p:nvPr/>
        </p:nvSpPr>
        <p:spPr>
          <a:xfrm>
            <a:off x="9738360" y="2194560"/>
            <a:ext cx="457200" cy="45720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232" y="2313432"/>
            <a:ext cx="219456" cy="219456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0287000" y="21945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execute()</a:t>
            </a:r>
            <a:endParaRPr lang="en-US" sz="1600" dirty="0"/>
          </a:p>
        </p:txBody>
      </p:sp>
      <p:sp>
        <p:nvSpPr>
          <p:cNvPr id="43" name="Text 36"/>
          <p:cNvSpPr txBox="1"/>
          <p:nvPr/>
        </p:nvSpPr>
        <p:spPr>
          <a:xfrm>
            <a:off x="9692640" y="2834640"/>
            <a:ext cx="16642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Ревизии, конфликт правок 409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Утверждённый снимок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DOCX/PDF, реестр, напоминания, Jira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9692640" y="4965192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9692640" y="496519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LLM</a:t>
            </a:r>
            <a:endParaRPr lang="en-US" sz="1100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916168"/>
            <a:ext cx="256032" cy="256032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914400" y="587044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внешние облачные API аудио и текст встречи не уходят: пустой или внешний адрес LLM останавливает обработку, облачного fallback нет.</a:t>
            </a:r>
            <a:endParaRPr lang="en-US" sz="1300" dirty="0"/>
          </a:p>
        </p:txBody>
      </p:sp>
      <p:sp>
        <p:nvSpPr>
          <p:cNvPr id="48" name="Text 40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Siqyr AI · HackAlem AI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Своя STT для русского, казахского и смешанной речи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1296" cy="1417320"/>
          </a:xfrm>
          <a:prstGeom prst="roundRect">
            <a:avLst>
              <a:gd name="adj" fmla="val 7742"/>
            </a:avLst>
          </a:prstGeom>
          <a:solidFill>
            <a:srgbClr val="EEF1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44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проход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русский, казахский и шала-казахский без переключения языка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828" y="1645920"/>
            <a:ext cx="3511296" cy="1417320"/>
          </a:xfrm>
          <a:prstGeom prst="roundRect">
            <a:avLst>
              <a:gd name="adj" fmla="val 7742"/>
            </a:avLst>
          </a:prstGeom>
          <a:solidFill>
            <a:srgbClr val="EEF1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3148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44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613148" y="2423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и диаризация без GPU, на сервере заказчика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9016" y="1645920"/>
            <a:ext cx="3511296" cy="1417320"/>
          </a:xfrm>
          <a:prstGeom prst="roundRect">
            <a:avLst>
              <a:gd name="adj" fmla="val 7742"/>
            </a:avLst>
          </a:prstGeom>
          <a:solidFill>
            <a:srgbClr val="EEF1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03336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44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≈756 МБ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2423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STT; модель обучена участником команды до хакатона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062472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Компонент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8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8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Где работает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8A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Распознавание речи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alibiserikbay/kazakh-russian-mixed-stt · wav2vec2 + CTC · Apache-2.0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CPU, локально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Детектор речи (VAD)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vad.onnx из того же репозитория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CPU, onnxruntime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Диаризация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pyannote/speaker-diarization-community-1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CPU, локально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LLM, рабочий профиль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Ollama: qwen3:4b, резерв qwen3:1.7b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loopback сервера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Поиск по встречам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 + bge-reranker-v2-m3 и та же локальная LLM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CPU, локально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LLM, разработка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gpt-6-luna — только на вымышленных стенограммах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02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внешний API, без данных встреч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Siqyr AI · HackAlem AI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Закрытый контур — по умолчанию, а не опция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32C6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Аудио не покидает сервер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FFmpeg, VAD, STT и диаризация работают на CPU сервера заказчика.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1396" y="16916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32C66"/>
          </a:solidFill>
          <a:ln/>
        </p:spPr>
      </p:sp>
      <p:sp>
        <p:nvSpPr>
          <p:cNvPr id="10" name="Shape 7"/>
          <p:cNvSpPr/>
          <p:nvPr/>
        </p:nvSpPr>
        <p:spPr>
          <a:xfrm>
            <a:off x="4585716" y="1965960"/>
            <a:ext cx="502920" cy="50292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475" y="20967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25796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только внутри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85716" y="2606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или хост из списка разрешённых. Внешний адрес останавливает обработку.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74152" y="16916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32C66"/>
          </a:solidFill>
          <a:ln/>
        </p:spPr>
      </p:sp>
      <p:sp>
        <p:nvSpPr>
          <p:cNvPr id="15" name="Shape 11"/>
          <p:cNvSpPr/>
          <p:nvPr/>
        </p:nvSpPr>
        <p:spPr>
          <a:xfrm>
            <a:off x="8348472" y="1965960"/>
            <a:ext cx="502920" cy="50292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231" y="20967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88552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 — только синтетика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2606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— лишь для встроенного вымышленного демо. Признак ставит сервер, не клиент.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32C66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" y="410839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Телеметрия отключена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6177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Face, pyannote и tracing выключены. Режим --offline запрещает сетевые обращения.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11396" y="37033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32C66"/>
          </a:solidFill>
          <a:ln/>
        </p:spPr>
      </p:sp>
      <p:sp>
        <p:nvSpPr>
          <p:cNvPr id="25" name="Shape 19"/>
          <p:cNvSpPr/>
          <p:nvPr/>
        </p:nvSpPr>
        <p:spPr>
          <a:xfrm>
            <a:off x="4585716" y="3977640"/>
            <a:ext cx="502920" cy="50292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475" y="410839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25796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по департаментам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85716" y="46177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встречи видят только пользователи её департамента. Роли от viewer до admin.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74152" y="37033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32C66"/>
          </a:solidFill>
          <a:ln/>
        </p:spPr>
      </p:sp>
      <p:sp>
        <p:nvSpPr>
          <p:cNvPr id="30" name="Shape 23"/>
          <p:cNvSpPr/>
          <p:nvPr/>
        </p:nvSpPr>
        <p:spPr>
          <a:xfrm>
            <a:off x="8348472" y="3977640"/>
            <a:ext cx="502920" cy="502920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231" y="410839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88552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 уведомлены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348472" y="46177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пишет в чат о записи и ИИ-транскрибации; секретарь отмечает уведомление в UI.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Прототип, не сертифицированное средство защиты. Физический прогон с отключённой сетью ещё не проводился.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Siqyr AI · HackAlem AI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измерили — на малых выборках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1168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1600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9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Поручения из 12 вымышленных стенограмм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5961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/ KK / mixed · gpt-6-luna: 12/12 ответов, 9/9 поручений, 0 лишних · qwen3:4b: 8/12 и 4/9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9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Аудио: две смоделированные записи кейса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0" y="2057400"/>
            <a:ext cx="5056632" cy="1325880"/>
          </a:xfrm>
          <a:prstGeom prst="roundRect">
            <a:avLst>
              <a:gd name="adj" fmla="val 8276"/>
            </a:avLst>
          </a:prstGeom>
          <a:solidFill>
            <a:srgbClr val="EEF1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12280" y="2240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44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2807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пунктов протокола найдены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22402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№1 · 274 с · 39 реплик · 4 голоса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 верный у 6, «не указан» у 3, одно имя исказил STT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0" y="3566160"/>
            <a:ext cx="5056632" cy="1325880"/>
          </a:xfrm>
          <a:prstGeom prst="roundRect">
            <a:avLst>
              <a:gd name="adj" fmla="val 8276"/>
            </a:avLst>
          </a:prstGeom>
          <a:solidFill>
            <a:srgbClr val="EEF1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12280" y="3749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44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43159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пунктов покрыты 7 поручениями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37490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№2 · 206 с · 45 реплик · 5 голосов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6 поручений исполнитель «не указан» — его назначает секретарь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0" y="5120640"/>
            <a:ext cx="2459736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9DCE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0" y="512064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4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25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512064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битых и выдуманных ответов LLM отклонены проверкой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180576" y="5120640"/>
            <a:ext cx="2459736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9DCE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63456" y="512064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4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0277856" y="512064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 pytest проходят без сети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Smoke-проверка, не оценка качества на реальных совещаниях. Эталон читается только после сохранения ответов модели. WER не считали: письменный протокол не совпадает с речью дословно.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Siqyr AI · HackAlem AI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И ДОСТУП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Поручения уходят в работу, а не в архив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EEF1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47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задачи по кнопке после утверждения (пример)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937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B215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4688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3448A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50545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81328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SCRUM-17 · Задача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2862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0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и отправить отчёт по закупкам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3291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Исполнитель: </a:t>
            </a:r>
            <a:pPr indent="0" marL="0">
              <a:buNone/>
            </a:pPr>
            <a:r>
              <a:rPr lang="en-US" sz="125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</a:t>
            </a:r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Due date: </a:t>
            </a:r>
            <a:pPr indent="0" marL="0">
              <a:buNone/>
            </a:pPr>
            <a:r>
              <a:rPr lang="en-US" sz="125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25.09.2026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97280" y="3657600"/>
            <a:ext cx="4389120" cy="658368"/>
          </a:xfrm>
          <a:prstGeom prst="roundRect">
            <a:avLst>
              <a:gd name="adj" fmla="val 16667"/>
            </a:avLst>
          </a:prstGeom>
          <a:solidFill>
            <a:srgbClr val="EEF1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80160" y="365760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«…есепті жұмаға дейін дайындап жіберіңіз…»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33088" y="381304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CE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279" y="3899916"/>
            <a:ext cx="173736" cy="17373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72879" y="3813048"/>
            <a:ext cx="85807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00:31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6227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434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protocol.pdf — вложение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50749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date, цитата, ссылка на секунды записи и PDF вложением; повтор не создаёт дублей. Проверено на Jira Cloud со сценарной записью, в контуре — Jira Data Center.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0" y="1691640"/>
            <a:ext cx="530352" cy="530352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692" y="1829532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32320" y="1673352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 о сроках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32320" y="2002536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Фоновая проверка сроков: письмо исполнителю и копия куратору, повторно отправленное не дублируется.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0" y="2788920"/>
            <a:ext cx="530352" cy="530352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692" y="2926812"/>
            <a:ext cx="254569" cy="25456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32320" y="2770632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вход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132320" y="3099816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— пароль и JWT. Keycloak и ЭЦП через NCALayer готовы на backend и ждут реквизитов заказчика.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400800" y="3886200"/>
            <a:ext cx="530352" cy="530352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692" y="4024092"/>
            <a:ext cx="254569" cy="254569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132320" y="3867912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и департаменты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7132320" y="4197096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→ editor → secretary → department_admin. Встречи видны только своему департаменту.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6400800" y="4983480"/>
            <a:ext cx="530352" cy="530352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8692" y="5121372"/>
            <a:ext cx="254569" cy="254569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132320" y="4965192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по встречам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7132320" y="5294376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RAG-чат отвечает со ссылками на реплики: BGE-M3, reranker и локальная LLM.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Siqyr AI · HackAlem AI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по README — три команды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035040" cy="3840480"/>
          </a:xfrm>
          <a:prstGeom prst="roundRect">
            <a:avLst>
              <a:gd name="adj" fmla="val 2857"/>
            </a:avLst>
          </a:prstGeom>
          <a:solidFill>
            <a:srgbClr val="1E24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4864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C97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.venv, зависимости по lock, .env, npm ci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scripts/setup.sh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C97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API :8000 + UI :5174, ничего не скачивает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scripts/run_local.sh --offline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C97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запуск → правка → утверждение → DOCX/PDF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scripts/demo_e2e.sh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C97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180 тестов, mock STT и агенты, без сети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-m pytest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C97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закрытый контур: образ с torch, STT и RAG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645920"/>
            <a:ext cx="2240280" cy="1298448"/>
          </a:xfrm>
          <a:prstGeom prst="roundRect">
            <a:avLst>
              <a:gd name="adj" fmla="val 8451"/>
            </a:avLst>
          </a:prstGeom>
          <a:solidFill>
            <a:srgbClr val="EEF1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7804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44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423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 pytest проходят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400032" y="1645920"/>
            <a:ext cx="2240280" cy="1298448"/>
          </a:xfrm>
          <a:prstGeom prst="roundRect">
            <a:avLst>
              <a:gd name="adj" fmla="val 8451"/>
            </a:avLst>
          </a:prstGeom>
          <a:solidFill>
            <a:srgbClr val="EEF1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28632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44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9628632" y="2423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маршрутов API в контракте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3127248"/>
            <a:ext cx="2240280" cy="1298448"/>
          </a:xfrm>
          <a:prstGeom prst="roundRect">
            <a:avLst>
              <a:gd name="adj" fmla="val 8451"/>
            </a:avLst>
          </a:prstGeom>
          <a:solidFill>
            <a:srgbClr val="EEF1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78040" y="32644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44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9044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коммитов трёх участников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00032" y="3127248"/>
            <a:ext cx="2240280" cy="1298448"/>
          </a:xfrm>
          <a:prstGeom prst="roundRect">
            <a:avLst>
              <a:gd name="adj" fmla="val 8451"/>
            </a:avLst>
          </a:prstGeom>
          <a:solidFill>
            <a:srgbClr val="EEF1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28632" y="32644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44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628632" y="39044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режима: real · mock · replay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4663440"/>
            <a:ext cx="4690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· ARCHITECTURE · DECISIONS · AUTH · DATA · DEMO · AI_USAGE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и SHA-256 в manifest, без сети после загрузки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Siqyr AI · HackAlem AI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4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О ГРАНИЦАХ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0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ещё не готово и куда идём дальше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9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прототипа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30552"/>
            <a:ext cx="310896" cy="310896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473" y="2211385"/>
            <a:ext cx="149230" cy="1492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21031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в UI проверен в браузере на mock-моделях; с реальными моделями через UI ещё не прогонялся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310896" cy="310896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73" y="2869753"/>
            <a:ext cx="149230" cy="14923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276148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Real-путь проверен по частям; полный прогон длинной записи через UI впереди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447288"/>
            <a:ext cx="310896" cy="310896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3" y="3528121"/>
            <a:ext cx="149230" cy="1492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3419856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Диаризация сливает быстрые смены говорящих: 4 голоса при 5 людях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4105656"/>
            <a:ext cx="310896" cy="310896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73" y="4186489"/>
            <a:ext cx="149230" cy="14923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05840" y="4078224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qwen3:4b заметно слабее облачной модели на том же наборе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4764024"/>
            <a:ext cx="310896" cy="310896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73" y="4844857"/>
            <a:ext cx="149230" cy="14923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05840" y="473659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Meet требует ручного входа аккаунта; Teams и Zoom нет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48640" y="5422392"/>
            <a:ext cx="310896" cy="310896"/>
          </a:xfrm>
          <a:prstGeom prst="ellipse">
            <a:avLst/>
          </a:prstGeom>
          <a:solidFill>
            <a:srgbClr val="EEF0F3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473" y="5503225"/>
            <a:ext cx="149230" cy="14923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05840" y="53949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очередь и один worker — прототип, не промышленное развёртывание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9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шаги</a:t>
            </a:r>
            <a:endParaRPr lang="en-US" sz="1700" dirty="0"/>
          </a:p>
        </p:txBody>
      </p:sp>
      <p:sp>
        <p:nvSpPr>
          <p:cNvPr id="24" name="Shape 16"/>
          <p:cNvSpPr/>
          <p:nvPr/>
        </p:nvSpPr>
        <p:spPr>
          <a:xfrm>
            <a:off x="6647688" y="2377440"/>
            <a:ext cx="0" cy="3017520"/>
          </a:xfrm>
          <a:prstGeom prst="line">
            <a:avLst/>
          </a:prstGeom>
          <a:noFill/>
          <a:ln w="19050">
            <a:solidFill>
              <a:srgbClr val="D9DCE4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400800" y="2103120"/>
            <a:ext cx="493776" cy="493776"/>
          </a:xfrm>
          <a:prstGeom prst="ellipse">
            <a:avLst/>
          </a:prstGeom>
          <a:solidFill>
            <a:srgbClr val="D992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400800" y="2103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7132320" y="2084832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на 20 встречах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7132320" y="2414016"/>
            <a:ext cx="4507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организация: замер времени подготовки и проверки протокола вместо обещаний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400800" y="3108960"/>
            <a:ext cx="493776" cy="493776"/>
          </a:xfrm>
          <a:prstGeom prst="ellipse">
            <a:avLst/>
          </a:prstGeom>
          <a:solidFill>
            <a:srgbClr val="3448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400800" y="3108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7132320" y="3090672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по языкам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7132320" y="3419856"/>
            <a:ext cx="4507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и извлечение на записях заказчика: отдельно KK, RU и смешанная речь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6400800" y="4114800"/>
            <a:ext cx="493776" cy="493776"/>
          </a:xfrm>
          <a:prstGeom prst="ellipse">
            <a:avLst/>
          </a:prstGeom>
          <a:solidFill>
            <a:srgbClr val="3448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400800" y="41148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7132320" y="4096512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7132320" y="4425696"/>
            <a:ext cx="4507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Устойчивая очередь, несколько workers, аудит действий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400800" y="5120640"/>
            <a:ext cx="493776" cy="493776"/>
          </a:xfrm>
          <a:prstGeom prst="ellipse">
            <a:avLst/>
          </a:prstGeom>
          <a:solidFill>
            <a:srgbClr val="3448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6400800" y="5120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7132320" y="5102352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7132320" y="5431536"/>
            <a:ext cx="4507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СЭД, Jira Data Center, внутренний SMTP, Teams и Zoom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Siqyr AI · HackAlem AI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685800" cy="685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80960" y="1131113"/>
            <a:ext cx="65532" cy="115214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4" name="Shape 1"/>
          <p:cNvSpPr/>
          <p:nvPr/>
        </p:nvSpPr>
        <p:spPr>
          <a:xfrm>
            <a:off x="7812024" y="1048073"/>
            <a:ext cx="65532" cy="281295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5" name="Shape 2"/>
          <p:cNvSpPr/>
          <p:nvPr/>
        </p:nvSpPr>
        <p:spPr>
          <a:xfrm>
            <a:off x="7943088" y="1066216"/>
            <a:ext cx="65532" cy="245009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6" name="Shape 3"/>
          <p:cNvSpPr/>
          <p:nvPr/>
        </p:nvSpPr>
        <p:spPr>
          <a:xfrm>
            <a:off x="8074152" y="1084255"/>
            <a:ext cx="65532" cy="208931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7" name="Shape 4"/>
          <p:cNvSpPr/>
          <p:nvPr/>
        </p:nvSpPr>
        <p:spPr>
          <a:xfrm>
            <a:off x="8205216" y="1034583"/>
            <a:ext cx="65532" cy="308273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8" name="Shape 5"/>
          <p:cNvSpPr/>
          <p:nvPr/>
        </p:nvSpPr>
        <p:spPr>
          <a:xfrm>
            <a:off x="8336280" y="877851"/>
            <a:ext cx="65532" cy="621739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9" name="Shape 6"/>
          <p:cNvSpPr/>
          <p:nvPr/>
        </p:nvSpPr>
        <p:spPr>
          <a:xfrm>
            <a:off x="8467344" y="857064"/>
            <a:ext cx="65532" cy="663312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0" name="Shape 7"/>
          <p:cNvSpPr/>
          <p:nvPr/>
        </p:nvSpPr>
        <p:spPr>
          <a:xfrm>
            <a:off x="8598408" y="1052399"/>
            <a:ext cx="65532" cy="272642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1" name="Shape 8"/>
          <p:cNvSpPr/>
          <p:nvPr/>
        </p:nvSpPr>
        <p:spPr>
          <a:xfrm>
            <a:off x="8729472" y="814117"/>
            <a:ext cx="65532" cy="749207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2" name="Shape 9"/>
          <p:cNvSpPr/>
          <p:nvPr/>
        </p:nvSpPr>
        <p:spPr>
          <a:xfrm>
            <a:off x="8860536" y="809381"/>
            <a:ext cx="65532" cy="758678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3" name="Shape 10"/>
          <p:cNvSpPr/>
          <p:nvPr/>
        </p:nvSpPr>
        <p:spPr>
          <a:xfrm>
            <a:off x="8991600" y="977958"/>
            <a:ext cx="65532" cy="421524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4" name="Shape 11"/>
          <p:cNvSpPr/>
          <p:nvPr/>
        </p:nvSpPr>
        <p:spPr>
          <a:xfrm>
            <a:off x="9122664" y="1024624"/>
            <a:ext cx="65532" cy="328192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15" name="Shape 12"/>
          <p:cNvSpPr/>
          <p:nvPr/>
        </p:nvSpPr>
        <p:spPr>
          <a:xfrm>
            <a:off x="9253728" y="909676"/>
            <a:ext cx="65532" cy="558088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16" name="Shape 13"/>
          <p:cNvSpPr/>
          <p:nvPr/>
        </p:nvSpPr>
        <p:spPr>
          <a:xfrm>
            <a:off x="9384792" y="839160"/>
            <a:ext cx="65532" cy="699121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17" name="Shape 14"/>
          <p:cNvSpPr/>
          <p:nvPr/>
        </p:nvSpPr>
        <p:spPr>
          <a:xfrm>
            <a:off x="9515856" y="1012983"/>
            <a:ext cx="65532" cy="351473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18" name="Shape 15"/>
          <p:cNvSpPr/>
          <p:nvPr/>
        </p:nvSpPr>
        <p:spPr>
          <a:xfrm>
            <a:off x="9646920" y="718619"/>
            <a:ext cx="65532" cy="940203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19" name="Shape 16"/>
          <p:cNvSpPr/>
          <p:nvPr/>
        </p:nvSpPr>
        <p:spPr>
          <a:xfrm>
            <a:off x="9777984" y="668116"/>
            <a:ext cx="65532" cy="1041208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20" name="Shape 17"/>
          <p:cNvSpPr/>
          <p:nvPr/>
        </p:nvSpPr>
        <p:spPr>
          <a:xfrm>
            <a:off x="9909048" y="905828"/>
            <a:ext cx="65532" cy="565784"/>
          </a:xfrm>
          <a:prstGeom prst="roundRect">
            <a:avLst>
              <a:gd name="adj" fmla="val 50000"/>
            </a:avLst>
          </a:prstGeom>
          <a:solidFill>
            <a:srgbClr val="D9922E"/>
          </a:solidFill>
          <a:ln/>
        </p:spPr>
      </p:sp>
      <p:sp>
        <p:nvSpPr>
          <p:cNvPr id="21" name="Shape 18"/>
          <p:cNvSpPr/>
          <p:nvPr/>
        </p:nvSpPr>
        <p:spPr>
          <a:xfrm>
            <a:off x="10040112" y="934873"/>
            <a:ext cx="65532" cy="507695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22" name="Shape 19"/>
          <p:cNvSpPr/>
          <p:nvPr/>
        </p:nvSpPr>
        <p:spPr>
          <a:xfrm>
            <a:off x="10171176" y="959003"/>
            <a:ext cx="65532" cy="459433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23" name="Shape 20"/>
          <p:cNvSpPr/>
          <p:nvPr/>
        </p:nvSpPr>
        <p:spPr>
          <a:xfrm>
            <a:off x="10302240" y="1005298"/>
            <a:ext cx="65532" cy="366843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24" name="Shape 21"/>
          <p:cNvSpPr/>
          <p:nvPr/>
        </p:nvSpPr>
        <p:spPr>
          <a:xfrm>
            <a:off x="10433304" y="1041495"/>
            <a:ext cx="65532" cy="294450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25" name="Shape 22"/>
          <p:cNvSpPr/>
          <p:nvPr/>
        </p:nvSpPr>
        <p:spPr>
          <a:xfrm>
            <a:off x="10564368" y="864631"/>
            <a:ext cx="65532" cy="648178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26" name="Shape 23"/>
          <p:cNvSpPr/>
          <p:nvPr/>
        </p:nvSpPr>
        <p:spPr>
          <a:xfrm>
            <a:off x="10695432" y="805454"/>
            <a:ext cx="65532" cy="766532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26496" y="975797"/>
            <a:ext cx="65532" cy="425847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28" name="Shape 25"/>
          <p:cNvSpPr/>
          <p:nvPr/>
        </p:nvSpPr>
        <p:spPr>
          <a:xfrm>
            <a:off x="10957560" y="980021"/>
            <a:ext cx="65532" cy="417398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29" name="Shape 26"/>
          <p:cNvSpPr/>
          <p:nvPr/>
        </p:nvSpPr>
        <p:spPr>
          <a:xfrm>
            <a:off x="11088624" y="949000"/>
            <a:ext cx="65532" cy="479440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0" name="Shape 27"/>
          <p:cNvSpPr/>
          <p:nvPr/>
        </p:nvSpPr>
        <p:spPr>
          <a:xfrm>
            <a:off x="11219688" y="1053218"/>
            <a:ext cx="65532" cy="271004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1" name="Shape 28"/>
          <p:cNvSpPr/>
          <p:nvPr/>
        </p:nvSpPr>
        <p:spPr>
          <a:xfrm>
            <a:off x="11350752" y="1119160"/>
            <a:ext cx="65532" cy="139120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2" name="Shape 29"/>
          <p:cNvSpPr/>
          <p:nvPr/>
        </p:nvSpPr>
        <p:spPr>
          <a:xfrm>
            <a:off x="11481816" y="1094788"/>
            <a:ext cx="65532" cy="187864"/>
          </a:xfrm>
          <a:prstGeom prst="roundRect">
            <a:avLst>
              <a:gd name="adj" fmla="val 50000"/>
            </a:avLst>
          </a:prstGeom>
          <a:solidFill>
            <a:srgbClr val="4A62C4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31520" y="169164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Секретарь подтверждает —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 готов</a:t>
            </a:r>
            <a:endParaRPr lang="en-US" sz="40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Siqyr AI превращает двуязычную встречу в проверяемые поручения. Каждое поле можно проверить по записи, обработка остаётся в закрытом контуре.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731520" y="4251960"/>
            <a:ext cx="3429000" cy="1188720"/>
          </a:xfrm>
          <a:prstGeom prst="roundRect">
            <a:avLst>
              <a:gd name="adj" fmla="val 9231"/>
            </a:avLst>
          </a:prstGeom>
          <a:solidFill>
            <a:srgbClr val="232C66"/>
          </a:solidFill>
          <a:ln/>
        </p:spPr>
      </p:sp>
      <p:sp>
        <p:nvSpPr>
          <p:cNvPr id="36" name="Shape 33"/>
          <p:cNvSpPr/>
          <p:nvPr/>
        </p:nvSpPr>
        <p:spPr>
          <a:xfrm>
            <a:off x="1005840" y="4544568"/>
            <a:ext cx="603504" cy="603504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751" y="4701479"/>
            <a:ext cx="289682" cy="289682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1783080" y="4434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Meiirlan</a:t>
            </a:r>
            <a:endParaRPr lang="en-US" sz="1800" dirty="0"/>
          </a:p>
        </p:txBody>
      </p:sp>
      <p:sp>
        <p:nvSpPr>
          <p:cNvPr id="39" name="Text 35"/>
          <p:cNvSpPr txBox="1"/>
          <p:nvPr/>
        </p:nvSpPr>
        <p:spPr>
          <a:xfrm>
            <a:off x="1783080" y="4800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Бэкенд, инфраструктура, интеграция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4389120" y="4251960"/>
            <a:ext cx="3429000" cy="1188720"/>
          </a:xfrm>
          <a:prstGeom prst="roundRect">
            <a:avLst>
              <a:gd name="adj" fmla="val 9231"/>
            </a:avLst>
          </a:prstGeom>
          <a:solidFill>
            <a:srgbClr val="232C66"/>
          </a:solidFill>
          <a:ln/>
        </p:spPr>
      </p:sp>
      <p:sp>
        <p:nvSpPr>
          <p:cNvPr id="41" name="Shape 37"/>
          <p:cNvSpPr/>
          <p:nvPr/>
        </p:nvSpPr>
        <p:spPr>
          <a:xfrm>
            <a:off x="4663440" y="4544568"/>
            <a:ext cx="603504" cy="603504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351" y="4701479"/>
            <a:ext cx="289682" cy="289682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5440680" y="4434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Nurdaulet</a:t>
            </a:r>
            <a:endParaRPr lang="en-US" sz="1800" dirty="0"/>
          </a:p>
        </p:txBody>
      </p:sp>
      <p:sp>
        <p:nvSpPr>
          <p:cNvPr id="44" name="Text 39"/>
          <p:cNvSpPr txBox="1"/>
          <p:nvPr/>
        </p:nvSpPr>
        <p:spPr>
          <a:xfrm>
            <a:off x="5440680" y="4800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Фронтенд, демо</a:t>
            </a:r>
            <a:endParaRPr lang="en-US" sz="1250" dirty="0"/>
          </a:p>
        </p:txBody>
      </p:sp>
      <p:sp>
        <p:nvSpPr>
          <p:cNvPr id="45" name="Shape 40"/>
          <p:cNvSpPr/>
          <p:nvPr/>
        </p:nvSpPr>
        <p:spPr>
          <a:xfrm>
            <a:off x="8046720" y="4251960"/>
            <a:ext cx="3429000" cy="1188720"/>
          </a:xfrm>
          <a:prstGeom prst="roundRect">
            <a:avLst>
              <a:gd name="adj" fmla="val 9231"/>
            </a:avLst>
          </a:prstGeom>
          <a:solidFill>
            <a:srgbClr val="232C66"/>
          </a:solidFill>
          <a:ln/>
        </p:spPr>
      </p:sp>
      <p:sp>
        <p:nvSpPr>
          <p:cNvPr id="46" name="Shape 41"/>
          <p:cNvSpPr/>
          <p:nvPr/>
        </p:nvSpPr>
        <p:spPr>
          <a:xfrm>
            <a:off x="8321040" y="4544568"/>
            <a:ext cx="603504" cy="603504"/>
          </a:xfrm>
          <a:prstGeom prst="ellipse">
            <a:avLst/>
          </a:prstGeom>
          <a:solidFill>
            <a:srgbClr val="3448A5"/>
          </a:solidFill>
          <a:ln/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951" y="4701479"/>
            <a:ext cx="289682" cy="289682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9098280" y="4434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Alibi</a:t>
            </a:r>
            <a:endParaRPr lang="en-US" sz="1800" dirty="0"/>
          </a:p>
        </p:txBody>
      </p:sp>
      <p:sp>
        <p:nvSpPr>
          <p:cNvPr id="49" name="Text 43"/>
          <p:cNvSpPr txBox="1"/>
          <p:nvPr/>
        </p:nvSpPr>
        <p:spPr>
          <a:xfrm>
            <a:off x="9098280" y="4800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распознавание речи, агенты, eval</a:t>
            </a:r>
            <a:endParaRPr lang="en-US" sz="1250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879592"/>
            <a:ext cx="237744" cy="237744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1051560" y="5833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github.com/BAITC-Hacks/hack-58ee0d93-siqyr-ai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HackAlem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Siqyr AI — автопротоколирование совещаний</dc:title>
  <dc:subject>PptxGenJS Presentation</dc:subject>
  <dc:creator>Команда Siqyr AI</dc:creator>
  <cp:lastModifiedBy>Команда Siqyr AI</cp:lastModifiedBy>
  <cp:revision>1</cp:revision>
  <dcterms:created xsi:type="dcterms:W3CDTF">2026-09-23T12:48:07Z</dcterms:created>
  <dcterms:modified xsi:type="dcterms:W3CDTF">2026-09-23T12:48:07Z</dcterms:modified>
</cp:coreProperties>
</file>